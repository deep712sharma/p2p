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Pattern Recognition Letters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246120"/>
            <a:ext cx="6858000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3832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7E67"/>
                </a:solidFill>
                <a:latin typeface="Calibri"/>
              </a:rPr>
              <a:t>Optimizing Cache Schedules for Diffusion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2062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939D"/>
                </a:solidFill>
                <a:latin typeface="Calibri"/>
              </a:rPr>
              <a:t>💡  Improving image generation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89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939D"/>
                </a:solidFill>
                <a:latin typeface="Calibri"/>
              </a:rPr>
              <a:t>Genesis: Evolving Optimal Cache Schedule for Diffusion Models | --Manuscript Draft-- | Manuscript Number: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0"/>
            <a:ext cx="45720" cy="6858000"/>
          </a:xfrm>
          <a:prstGeom prst="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834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478"/>
                </a:solidFill>
                <a:latin typeface="Calibri"/>
              </a:rPr>
              <a:t>Research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1/24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FF0F3"/>
                </a:solidFill>
                <a:latin typeface="Calibri"/>
              </a:defRPr>
              <a:buChar char="▸"/>
              <a:buClr>
                <a:srgbClr val="FA9CA4"/>
              </a:buClr>
            </a:pPr>
            <a:r>
              <a:t>Diffusion models have revolutionized image generation by producing very high quality results but their deployment remains constrained by slow inference due to sequential denoising steps.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FF0F3"/>
                </a:solidFill>
                <a:latin typeface="Calibri"/>
              </a:defRPr>
              <a:buChar char="▸"/>
              <a:buClr>
                <a:srgbClr val="FA9CA4"/>
              </a:buClr>
            </a:pPr>
            <a:r>
              <a:t>Training free acceleration methods like DeepCache exploit feature redundancy across timesteps where determining an optimal caching schedule still remains a challenging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2/24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FF0F3"/>
                </a:solidFill>
                <a:latin typeface="Calibri"/>
              </a:defRPr>
              <a:buChar char="▸"/>
              <a:buClr>
                <a:srgbClr val="FA9CA4"/>
              </a:buClr>
            </a:pPr>
            <a:r>
              <a:t>Diffusion models have transformed the field of generation.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FF0F3"/>
                </a:solidFill>
                <a:latin typeface="Calibri"/>
              </a:defRPr>
              <a:buChar char="▸"/>
              <a:buClr>
                <a:srgbClr val="FA9CA4"/>
              </a:buClr>
            </a:pPr>
            <a:r>
              <a:t>Unlike earlier approaches like GANs, which generate output in a single step, diffusion models work by gradually refining noise into meaningful data over multiple timesteps.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FF0F3"/>
                </a:solidFill>
                <a:latin typeface="Calibri"/>
              </a:defRPr>
              <a:buChar char="▸"/>
              <a:buClr>
                <a:srgbClr val="FA9CA4"/>
              </a:buClr>
            </a:pPr>
            <a:r>
              <a:t>This process leads to better image quality and high computational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3/24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6400800" cy="53492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60" y="1188720"/>
            <a:ext cx="36576" cy="5212080"/>
          </a:xfrm>
          <a:prstGeom prst="rect">
            <a:avLst/>
          </a:prstGeom>
          <a:solidFill>
            <a:srgbClr val="FFC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43000"/>
            <a:ext cx="5029200" cy="5349240"/>
          </a:xfrm>
          <a:prstGeom prst="rect">
            <a:avLst/>
          </a:prstGeom>
          <a:solidFill>
            <a:srgbClr val="4D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440"/>
              </a:spcAft>
              <a:defRPr sz="1800">
                <a:solidFill>
                  <a:srgbClr val="FFF0F3"/>
                </a:solidFill>
                <a:latin typeface="Calibri"/>
              </a:defRPr>
              <a:buChar char="▸"/>
              <a:buClr>
                <a:srgbClr val="FA9CA4"/>
              </a:buClr>
            </a:pPr>
            <a:r>
              <a:t>We propose an evolutionary optimization framework to improve the caching strategy in diffusion models.</a:t>
            </a:r>
          </a:p>
          <a:p>
            <a:pPr marL="320040" indent="-320040">
              <a:spcAft>
                <a:spcPts val="1440"/>
              </a:spcAft>
              <a:defRPr sz="1800">
                <a:solidFill>
                  <a:srgbClr val="FFF0F3"/>
                </a:solidFill>
                <a:latin typeface="Calibri"/>
              </a:defRPr>
              <a:buChar char="▸"/>
              <a:buClr>
                <a:srgbClr val="FA9CA4"/>
              </a:buClr>
            </a:pPr>
            <a:r>
              <a:t>Instead of relying on fixed and uniform caching intervals, our approach searches for adaptive schedules that determine when to perform full computation and when to reuse cached features.</a:t>
            </a:r>
          </a:p>
        </p:txBody>
      </p:sp>
      <p:pic>
        <p:nvPicPr>
          <p:cNvPr id="10" name="Picture 9" descr="img_p7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80160"/>
            <a:ext cx="4892040" cy="4846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0" y="6263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A939D"/>
                </a:solidFill>
                <a:latin typeface="Calibri"/>
              </a:rPr>
              <a:t>Figure 2: Overview of the proposed evolutionary caching framework for diffusion models. The caching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Overview of the proposed evolutionary caching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4/24</a:t>
            </a:r>
          </a:p>
        </p:txBody>
      </p:sp>
      <p:pic>
        <p:nvPicPr>
          <p:cNvPr id="6" name="Picture 5" descr="img_p7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A939D"/>
                </a:solidFill>
                <a:latin typeface="Calibri"/>
              </a:rPr>
              <a:t>Figure 2: Overview of the proposed evolutionary caching framework for diffusion models. The caching mechanism selectively reuses backbone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5/24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FF0F3"/>
                </a:solidFill>
                <a:latin typeface="Calibri"/>
              </a:defRPr>
              <a:buChar char="▸"/>
              <a:buClr>
                <a:srgbClr val="FA9CA4"/>
              </a:buClr>
            </a:pPr>
            <a:r>
              <a:t>Diffusion models generate images through a sequential denoising process over T timesteps.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FF0F3"/>
                </a:solidFill>
                <a:latin typeface="Calibri"/>
              </a:defRPr>
              <a:buChar char="▸"/>
              <a:buClr>
                <a:srgbClr val="FA9CA4"/>
              </a:buClr>
            </a:pPr>
            <a:r>
              <a:t>At each timestep, the model refines the image progressively.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6/24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FF0F3"/>
                </a:solidFill>
                <a:latin typeface="Calibri"/>
              </a:defRPr>
              <a:buChar char="▸"/>
              <a:buClr>
                <a:srgbClr val="FA9CA4"/>
              </a:buClr>
            </a:pPr>
            <a:r>
              <a:t>Diffusion models are widely known for producing high quality images.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FF0F3"/>
                </a:solidFill>
                <a:latin typeface="Calibri"/>
              </a:defRPr>
              <a:buChar char="▸"/>
              <a:buClr>
                <a:srgbClr val="FA9CA4"/>
              </a:buClr>
            </a:pPr>
            <a:r>
              <a:t>At higher level, they work by gradually corrupting data and then learning how to reverse that corruption.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7/24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FF0F3"/>
                </a:solidFill>
                <a:latin typeface="Calibri"/>
              </a:defRPr>
              <a:buChar char="▸"/>
              <a:buClr>
                <a:srgbClr val="FA9CA4"/>
              </a:buClr>
            </a:pPr>
            <a:r>
              <a:t>Diffusion models achieve high-quality generative performance but require iterative denoising steps, making inference slower and more resource intensive.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FF0F3"/>
                </a:solidFill>
                <a:latin typeface="Calibri"/>
              </a:defRPr>
              <a:buChar char="▸"/>
              <a:buClr>
                <a:srgbClr val="FA9CA4"/>
              </a:buClr>
            </a:pPr>
            <a:r>
              <a:t>Early acceleration strategies focused on reducing the number of sampling steps using improved solvers such as DDIM, DPM-Solver.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8/24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9/24</a:t>
            </a:r>
          </a:p>
        </p:txBody>
      </p:sp>
      <p:pic>
        <p:nvPicPr>
          <p:cNvPr id="6" name="Picture 5" descr="img_p4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10/24</a:t>
            </a:r>
          </a:p>
        </p:txBody>
      </p:sp>
      <p:pic>
        <p:nvPicPr>
          <p:cNvPr id="6" name="Picture 5" descr="img_p5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A939D"/>
                </a:solidFill>
                <a:latin typeface="Calibri"/>
              </a:rPr>
              <a:t>Figure 1 illustrates the overall motivation of the proposed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11/24</a:t>
            </a:r>
          </a:p>
        </p:txBody>
      </p:sp>
      <p:pic>
        <p:nvPicPr>
          <p:cNvPr id="6" name="Picture 5" descr="img_p6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A939D"/>
                </a:solidFill>
                <a:latin typeface="Calibri"/>
              </a:rPr>
              <a:t>Figure 1: Comparison of Genesis, DeepCache, and Stable Diffusion. Genesis provides better overall performance across multiple metrics 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12/24</a:t>
            </a:r>
          </a:p>
        </p:txBody>
      </p:sp>
      <p:pic>
        <p:nvPicPr>
          <p:cNvPr id="6" name="Picture 5" descr="img_p7_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A939D"/>
                </a:solidFill>
                <a:latin typeface="Calibri"/>
              </a:rPr>
              <a:t>Figure 2: Overview of the proposed evolutionary caching framework for diffusion models. The caching mechanism selectively reuses backbone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13/24</a:t>
            </a:r>
          </a:p>
        </p:txBody>
      </p:sp>
      <p:pic>
        <p:nvPicPr>
          <p:cNvPr id="6" name="Picture 5" descr="img_p8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A939D"/>
                </a:solidFill>
                <a:latin typeface="Calibri"/>
              </a:rPr>
              <a:t>Figure 4: (Left) Trade-off between inference efficiency and image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14/24</a:t>
            </a:r>
          </a:p>
        </p:txBody>
      </p:sp>
      <p:pic>
        <p:nvPicPr>
          <p:cNvPr id="6" name="Picture 5" descr="img_p8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A939D"/>
                </a:solidFill>
                <a:latin typeface="Calibri"/>
              </a:rPr>
              <a:t>Figure 4: (Left) Trade-off between inference efficiency and image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15/24</a:t>
            </a:r>
          </a:p>
        </p:txBody>
      </p:sp>
      <p:pic>
        <p:nvPicPr>
          <p:cNvPr id="6" name="Picture 5" descr="img_p9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A939D"/>
                </a:solidFill>
                <a:latin typeface="Calibri"/>
              </a:rPr>
              <a:t>Figure 5: Optimization trajectories of three search strategies Island Model (top row), Standard Genetic Algorithm (middle row), and Random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16/24</a:t>
            </a:r>
          </a:p>
        </p:txBody>
      </p:sp>
      <p:pic>
        <p:nvPicPr>
          <p:cNvPr id="6" name="Picture 5" descr="img_p10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A939D"/>
                </a:solidFill>
                <a:latin typeface="Calibri"/>
              </a:rPr>
              <a:t>Figure 6: Qualitative comparison across diffusion models and caching strategies. Images generated from multiple text prompts are shown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Supplementary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17/24</a:t>
            </a:r>
          </a:p>
        </p:txBody>
      </p:sp>
      <p:pic>
        <p:nvPicPr>
          <p:cNvPr id="6" name="Picture 5" descr="img_p11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A939D"/>
                </a:solidFill>
                <a:latin typeface="Calibri"/>
              </a:rPr>
              <a:t>Figure 7: Comparison of evaluation schedules across 50 denoising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18/24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224"/>
                <a:gridCol w="1351680"/>
                <a:gridCol w="1114543"/>
                <a:gridCol w="1114543"/>
                <a:gridCol w="1019688"/>
                <a:gridCol w="1114543"/>
                <a:gridCol w="1114543"/>
                <a:gridCol w="1019688"/>
                <a:gridCol w="111454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BOPs↓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MS-COCO (5000 samples)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PartiPrompts[Yu et al. (2022)]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FID↓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CLIP↑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PSNR↑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SSIM↑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CLIP↑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PSNR↑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SSIM↑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PLMS-50 steps
PLMS-20 steps
TGATE
Δ-DiT
TokenCache
CacheQuant
DeepCache[Ma et al. (2024)]
Ours (Genesis)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346.96T
138.78T
130.2T
125.4T
128.6T
4.27T
133.58T
80.00T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25.59
24.70
24.12
23.95
23.80
23.55
23.45
20.32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26.89
26.74
26.70
26.75
26.72
26.70
26.71
26.83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−
32.14
31.85
32.05
31.90
32.10
32.45
34.12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1.000
0.845
0.832
0.840
0.835
0.842
0.851
0.895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27.23
27.04
26.80
26.91
26.85
26.82
26.86
27.12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−
30.50
30.25
30.40
30.30
30.45
31.10
32.85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1.000
0.820
0.815
0.818
0.816
0.819
0.830
0.855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A939D"/>
                </a:solidFill>
                <a:latin typeface="Calibri"/>
              </a:rPr>
              <a:t>Table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19/24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8013"/>
                <a:gridCol w="1740993"/>
                <a:gridCol w="174099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Fitness ↑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Convergence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Simple GA + Standard Ops
Island Model + Standard Ops
Simple GA + Proposed Ops
Island Model + Proposed Ops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92.45
94.50
95.25
96.88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Slow
Medium
Medium
Fast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A939D"/>
                </a:solidFill>
                <a:latin typeface="Calibri"/>
              </a:rPr>
              <a:t>Table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20/24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5593"/>
                <a:gridCol w="2712203"/>
                <a:gridCol w="271220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Time (s) ↓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VRAM (GB) ↓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Stable Diffusion
DeepCache
Ours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1.00
0.72
0.48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14.2
12.5
10.8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A939D"/>
                </a:solidFill>
                <a:latin typeface="Calibri"/>
              </a:rPr>
              <a:t>Table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1. Because the Genesis framework is completely modu-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21/24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5593"/>
                <a:gridCol w="2712203"/>
                <a:gridCol w="271220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Time (s) ↓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VRAM (GB) ↓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Stable Diffusion
DeepCache
Ours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1.00
0.72
0.48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14.2
12.5
10.8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A939D"/>
                </a:solidFill>
                <a:latin typeface="Calibri"/>
              </a:rPr>
              <a:t>table 1. Because the Genesis framework is completely modu-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4 presents an ablation analysis of different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22/24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224"/>
                <a:gridCol w="1351680"/>
                <a:gridCol w="1114543"/>
                <a:gridCol w="1114543"/>
                <a:gridCol w="1019688"/>
                <a:gridCol w="1114543"/>
                <a:gridCol w="1114543"/>
                <a:gridCol w="1019688"/>
                <a:gridCol w="111454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BOPs↓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MS-COCO (5000 samples)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PartiPrompts[Yu et al. (2022)]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FID↓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CLIP↑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PSNR↑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SSIM↑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CLIP↑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PSNR↑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SSIM↑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PLMS-50 steps
PLMS-20 steps
TGATE
Δ-DiT
TokenCache
CacheQuant
DeepCache[Ma et al. (2024)]
Ours (Genesis)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346.96T
138.78T
130.2T
125.4T
128.6T
4.27T
133.58T
80.00T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25.59
24.70
24.12
23.95
23.80
23.55
23.45
20.32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26.89
26.74
26.70
26.75
26.72
26.70
26.71
26.83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−
32.14
31.85
32.05
31.90
32.10
32.45
34.12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1.000
0.845
0.832
0.840
0.835
0.842
0.851
0.895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27.23
27.04
26.80
26.91
26.85
26.82
26.86
27.12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−
30.50
30.25
30.40
30.30
30.45
31.10
32.85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1.000
0.820
0.815
0.818
0.816
0.819
0.830
0.855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A939D"/>
                </a:solidFill>
                <a:latin typeface="Calibri"/>
              </a:rPr>
              <a:t>Table 4 presents an ablation analysis of different search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1 shows that Genesis reduces the computational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23/24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4"/>
                <a:gridCol w="3286124"/>
                <a:gridCol w="2571750"/>
                <a:gridCol w="2143125"/>
                <a:gridCol w="242887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Random Search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Standard GA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Island Model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Fitness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84.102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92.4501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96.882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Sphere
Ackley
Rastrigin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12.45
19.12
145.20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0.05
3.02
45.21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0.0014
0.84
12.10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A939D"/>
                </a:solidFill>
                <a:latin typeface="Calibri"/>
              </a:rPr>
              <a:t>Table 1 shows that Genesis reduces the computational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A939D"/>
                </a:solidFill>
                <a:latin typeface="Calibri"/>
              </a:rPr>
              <a:t>24/24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4"/>
                <a:gridCol w="3286124"/>
                <a:gridCol w="2571750"/>
                <a:gridCol w="2143125"/>
                <a:gridCol w="242887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Random Search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Standard GA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Island Model</a:t>
                      </a:r>
                    </a:p>
                  </a:txBody>
                  <a:tcPr>
                    <a:solidFill>
                      <a:srgbClr val="5E2238"/>
                    </a:solidFill>
                    <a:lnT w="6350">
                      <a:solidFill>
                        <a:srgbClr val="733048"/>
                      </a:solidFill>
                    </a:lnT>
                    <a:lnB w="19050">
                      <a:solidFill>
                        <a:srgbClr val="FF7E67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Fitness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84.102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92.4501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96.882</a:t>
                      </a:r>
                    </a:p>
                  </a:txBody>
                  <a:tcPr>
                    <a:solidFill>
                      <a:srgbClr val="2B0E18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Sphere
Ackley
Rastrigin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12.45
19.12
145.20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0.05
3.02
45.21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0F3"/>
                          </a:solidFill>
                          <a:latin typeface="Calibri"/>
                        </a:rPr>
                        <a:t>0.0014
0.84
12.10</a:t>
                      </a:r>
                    </a:p>
                  </a:txBody>
                  <a:tcPr>
                    <a:solidFill>
                      <a:srgbClr val="3B1423"/>
                    </a:solidFill>
                    <a:lnT w="6350">
                      <a:solidFill>
                        <a:srgbClr val="733048"/>
                      </a:solidFill>
                    </a:lnT>
                    <a:lnB w="6350">
                      <a:solidFill>
                        <a:srgbClr val="733048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A939D"/>
                </a:solidFill>
                <a:latin typeface="Calibri"/>
              </a:rPr>
              <a:t>Table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0" y="1645920"/>
            <a:ext cx="6309360" cy="3474720"/>
          </a:xfrm>
          <a:prstGeom prst="rect">
            <a:avLst/>
          </a:prstGeom>
          <a:solidFill>
            <a:srgbClr val="3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1645920"/>
            <a:ext cx="64008" cy="3474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74920"/>
            <a:ext cx="6309360" cy="457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7E67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A939D"/>
                </a:solidFill>
                <a:latin typeface="Calibri"/>
              </a:rPr>
              <a:t>Genesis: Evolving Optimal Cache Schedule for Diffusion Models | --Manuscript Draft-- | Manuscript Number: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